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5F422B-9A06-48E6-814B-23541918A36F}" v="60" dt="2026-02-17T10:12:41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954" autoAdjust="0"/>
  </p:normalViewPr>
  <p:slideViewPr>
    <p:cSldViewPr snapToGrid="0" snapToObjects="1">
      <p:cViewPr varScale="1">
        <p:scale>
          <a:sx n="86" d="100"/>
          <a:sy n="86" d="100"/>
        </p:scale>
        <p:origin x="1354" y="62"/>
      </p:cViewPr>
      <p:guideLst/>
    </p:cSldViewPr>
  </p:slideViewPr>
  <p:notesTextViewPr>
    <p:cViewPr>
      <p:scale>
        <a:sx n="1" d="1"/>
        <a:sy n="1" d="1"/>
      </p:scale>
      <p:origin x="0" y="-4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an prabhu" userId="b1b99b0322cec7a2" providerId="LiveId" clId="{C31CA6A0-1C26-4DF9-B8AC-40E8CBE5B5B7}"/>
    <pc:docChg chg="custSel modSld">
      <pc:chgData name="lakshman prabhu" userId="b1b99b0322cec7a2" providerId="LiveId" clId="{C31CA6A0-1C26-4DF9-B8AC-40E8CBE5B5B7}" dt="2026-02-17T16:26:24.316" v="400" actId="20577"/>
      <pc:docMkLst>
        <pc:docMk/>
      </pc:docMkLst>
      <pc:sldChg chg="modTransition addAnim delAnim modAnim">
        <pc:chgData name="lakshman prabhu" userId="b1b99b0322cec7a2" providerId="LiveId" clId="{C31CA6A0-1C26-4DF9-B8AC-40E8CBE5B5B7}" dt="2026-02-17T09:48:20.112" v="51"/>
        <pc:sldMkLst>
          <pc:docMk/>
          <pc:sldMk cId="0" sldId="256"/>
        </pc:sldMkLst>
      </pc:sldChg>
      <pc:sldChg chg="modTransition">
        <pc:chgData name="lakshman prabhu" userId="b1b99b0322cec7a2" providerId="LiveId" clId="{C31CA6A0-1C26-4DF9-B8AC-40E8CBE5B5B7}" dt="2026-02-17T09:49:00.748" v="54"/>
        <pc:sldMkLst>
          <pc:docMk/>
          <pc:sldMk cId="0" sldId="257"/>
        </pc:sldMkLst>
      </pc:sldChg>
      <pc:sldChg chg="addSp modSp mod modTransition modAnim">
        <pc:chgData name="lakshman prabhu" userId="b1b99b0322cec7a2" providerId="LiveId" clId="{C31CA6A0-1C26-4DF9-B8AC-40E8CBE5B5B7}" dt="2026-02-17T09:50:07.132" v="77"/>
        <pc:sldMkLst>
          <pc:docMk/>
          <pc:sldMk cId="0" sldId="258"/>
        </pc:sldMkLst>
        <pc:spChg chg="mod">
          <ac:chgData name="lakshman prabhu" userId="b1b99b0322cec7a2" providerId="LiveId" clId="{C31CA6A0-1C26-4DF9-B8AC-40E8CBE5B5B7}" dt="2026-02-17T09:49:37.755" v="68" actId="271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09:49:51.295" v="69" actId="164"/>
          <ac:spMkLst>
            <pc:docMk/>
            <pc:sldMk cId="0" sldId="258"/>
            <ac:spMk id="4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09:49:51.295" v="69" actId="164"/>
          <ac:spMkLst>
            <pc:docMk/>
            <pc:sldMk cId="0" sldId="258"/>
            <ac:spMk id="5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09:49:51.295" v="69" actId="164"/>
          <ac:spMkLst>
            <pc:docMk/>
            <pc:sldMk cId="0" sldId="258"/>
            <ac:spMk id="6" creationId="{00000000-0000-0000-0000-000000000000}"/>
          </ac:spMkLst>
        </pc:spChg>
        <pc:grpChg chg="add mod">
          <ac:chgData name="lakshman prabhu" userId="b1b99b0322cec7a2" providerId="LiveId" clId="{C31CA6A0-1C26-4DF9-B8AC-40E8CBE5B5B7}" dt="2026-02-17T09:49:51.295" v="69" actId="164"/>
          <ac:grpSpMkLst>
            <pc:docMk/>
            <pc:sldMk cId="0" sldId="258"/>
            <ac:grpSpMk id="25" creationId="{9AADCB32-CFDA-4504-8C6A-E45657DA6EEC}"/>
          </ac:grpSpMkLst>
        </pc:grpChg>
      </pc:sldChg>
      <pc:sldChg chg="modTransition">
        <pc:chgData name="lakshman prabhu" userId="b1b99b0322cec7a2" providerId="LiveId" clId="{C31CA6A0-1C26-4DF9-B8AC-40E8CBE5B5B7}" dt="2026-02-17T09:50:27.291" v="82"/>
        <pc:sldMkLst>
          <pc:docMk/>
          <pc:sldMk cId="0" sldId="259"/>
        </pc:sldMkLst>
      </pc:sldChg>
      <pc:sldChg chg="modSp mod">
        <pc:chgData name="lakshman prabhu" userId="b1b99b0322cec7a2" providerId="LiveId" clId="{C31CA6A0-1C26-4DF9-B8AC-40E8CBE5B5B7}" dt="2026-02-17T09:10:30.279" v="10" actId="113"/>
        <pc:sldMkLst>
          <pc:docMk/>
          <pc:sldMk cId="0" sldId="262"/>
        </pc:sldMkLst>
        <pc:spChg chg="mod">
          <ac:chgData name="lakshman prabhu" userId="b1b99b0322cec7a2" providerId="LiveId" clId="{C31CA6A0-1C26-4DF9-B8AC-40E8CBE5B5B7}" dt="2026-02-17T09:10:30.279" v="10" actId="113"/>
          <ac:spMkLst>
            <pc:docMk/>
            <pc:sldMk cId="0" sldId="262"/>
            <ac:spMk id="21" creationId="{00000000-0000-0000-0000-000000000000}"/>
          </ac:spMkLst>
        </pc:spChg>
      </pc:sldChg>
      <pc:sldChg chg="modSp mod">
        <pc:chgData name="lakshman prabhu" userId="b1b99b0322cec7a2" providerId="LiveId" clId="{C31CA6A0-1C26-4DF9-B8AC-40E8CBE5B5B7}" dt="2026-02-17T09:11:03.370" v="11" actId="1076"/>
        <pc:sldMkLst>
          <pc:docMk/>
          <pc:sldMk cId="0" sldId="263"/>
        </pc:sldMkLst>
        <pc:spChg chg="mod">
          <ac:chgData name="lakshman prabhu" userId="b1b99b0322cec7a2" providerId="LiveId" clId="{C31CA6A0-1C26-4DF9-B8AC-40E8CBE5B5B7}" dt="2026-02-17T09:11:03.370" v="11" actId="1076"/>
          <ac:spMkLst>
            <pc:docMk/>
            <pc:sldMk cId="0" sldId="263"/>
            <ac:spMk id="5" creationId="{00000000-0000-0000-0000-000000000000}"/>
          </ac:spMkLst>
        </pc:spChg>
      </pc:sldChg>
      <pc:sldChg chg="addSp modSp mod">
        <pc:chgData name="lakshman prabhu" userId="b1b99b0322cec7a2" providerId="LiveId" clId="{C31CA6A0-1C26-4DF9-B8AC-40E8CBE5B5B7}" dt="2026-02-17T09:11:52.883" v="13" actId="1076"/>
        <pc:sldMkLst>
          <pc:docMk/>
          <pc:sldMk cId="0" sldId="267"/>
        </pc:sldMkLst>
        <pc:spChg chg="mod">
          <ac:chgData name="lakshman prabhu" userId="b1b99b0322cec7a2" providerId="LiveId" clId="{C31CA6A0-1C26-4DF9-B8AC-40E8CBE5B5B7}" dt="2026-02-17T09:11:49.884" v="12" actId="164"/>
          <ac:spMkLst>
            <pc:docMk/>
            <pc:sldMk cId="0" sldId="267"/>
            <ac:spMk id="23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09:11:49.884" v="12" actId="164"/>
          <ac:spMkLst>
            <pc:docMk/>
            <pc:sldMk cId="0" sldId="267"/>
            <ac:spMk id="24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09:11:49.884" v="12" actId="164"/>
          <ac:spMkLst>
            <pc:docMk/>
            <pc:sldMk cId="0" sldId="267"/>
            <ac:spMk id="25" creationId="{00000000-0000-0000-0000-000000000000}"/>
          </ac:spMkLst>
        </pc:spChg>
        <pc:grpChg chg="add mod">
          <ac:chgData name="lakshman prabhu" userId="b1b99b0322cec7a2" providerId="LiveId" clId="{C31CA6A0-1C26-4DF9-B8AC-40E8CBE5B5B7}" dt="2026-02-17T09:11:52.883" v="13" actId="1076"/>
          <ac:grpSpMkLst>
            <pc:docMk/>
            <pc:sldMk cId="0" sldId="267"/>
            <ac:grpSpMk id="32" creationId="{15682DB9-C89E-267A-8295-3C3A14EB97B1}"/>
          </ac:grpSpMkLst>
        </pc:grpChg>
      </pc:sldChg>
      <pc:sldChg chg="addSp modSp">
        <pc:chgData name="lakshman prabhu" userId="b1b99b0322cec7a2" providerId="LiveId" clId="{C31CA6A0-1C26-4DF9-B8AC-40E8CBE5B5B7}" dt="2026-02-17T10:12:41.236" v="355" actId="164"/>
        <pc:sldMkLst>
          <pc:docMk/>
          <pc:sldMk cId="0" sldId="270"/>
        </pc:sldMkLst>
        <pc:spChg chg="mod">
          <ac:chgData name="lakshman prabhu" userId="b1b99b0322cec7a2" providerId="LiveId" clId="{C31CA6A0-1C26-4DF9-B8AC-40E8CBE5B5B7}" dt="2026-02-17T10:12:14.082" v="352" actId="164"/>
          <ac:spMkLst>
            <pc:docMk/>
            <pc:sldMk cId="0" sldId="270"/>
            <ac:spMk id="4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2:14.082" v="352" actId="164"/>
          <ac:spMkLst>
            <pc:docMk/>
            <pc:sldMk cId="0" sldId="270"/>
            <ac:spMk id="5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2:14.082" v="352" actId="164"/>
          <ac:spMkLst>
            <pc:docMk/>
            <pc:sldMk cId="0" sldId="270"/>
            <ac:spMk id="6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2:41.236" v="355" actId="164"/>
          <ac:spMkLst>
            <pc:docMk/>
            <pc:sldMk cId="0" sldId="270"/>
            <ac:spMk id="7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2:41.236" v="355" actId="164"/>
          <ac:spMkLst>
            <pc:docMk/>
            <pc:sldMk cId="0" sldId="270"/>
            <ac:spMk id="8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2:41.236" v="355" actId="164"/>
          <ac:spMkLst>
            <pc:docMk/>
            <pc:sldMk cId="0" sldId="270"/>
            <ac:spMk id="9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2:23.559" v="353" actId="164"/>
          <ac:spMkLst>
            <pc:docMk/>
            <pc:sldMk cId="0" sldId="270"/>
            <ac:spMk id="10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2:23.559" v="353" actId="164"/>
          <ac:spMkLst>
            <pc:docMk/>
            <pc:sldMk cId="0" sldId="270"/>
            <ac:spMk id="11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2:23.559" v="353" actId="164"/>
          <ac:spMkLst>
            <pc:docMk/>
            <pc:sldMk cId="0" sldId="270"/>
            <ac:spMk id="12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2:30.567" v="354" actId="164"/>
          <ac:spMkLst>
            <pc:docMk/>
            <pc:sldMk cId="0" sldId="270"/>
            <ac:spMk id="13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2:30.567" v="354" actId="164"/>
          <ac:spMkLst>
            <pc:docMk/>
            <pc:sldMk cId="0" sldId="270"/>
            <ac:spMk id="14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2:30.567" v="354" actId="164"/>
          <ac:spMkLst>
            <pc:docMk/>
            <pc:sldMk cId="0" sldId="270"/>
            <ac:spMk id="15" creationId="{00000000-0000-0000-0000-000000000000}"/>
          </ac:spMkLst>
        </pc:spChg>
        <pc:grpChg chg="add mod">
          <ac:chgData name="lakshman prabhu" userId="b1b99b0322cec7a2" providerId="LiveId" clId="{C31CA6A0-1C26-4DF9-B8AC-40E8CBE5B5B7}" dt="2026-02-17T10:12:14.082" v="352" actId="164"/>
          <ac:grpSpMkLst>
            <pc:docMk/>
            <pc:sldMk cId="0" sldId="270"/>
            <ac:grpSpMk id="21" creationId="{D2C52466-A6AA-9148-4ECB-F3910749F9A1}"/>
          </ac:grpSpMkLst>
        </pc:grpChg>
        <pc:grpChg chg="add mod">
          <ac:chgData name="lakshman prabhu" userId="b1b99b0322cec7a2" providerId="LiveId" clId="{C31CA6A0-1C26-4DF9-B8AC-40E8CBE5B5B7}" dt="2026-02-17T10:12:23.559" v="353" actId="164"/>
          <ac:grpSpMkLst>
            <pc:docMk/>
            <pc:sldMk cId="0" sldId="270"/>
            <ac:grpSpMk id="22" creationId="{E4DF5682-DE3A-1B4C-A6E1-C6D1AC072341}"/>
          </ac:grpSpMkLst>
        </pc:grpChg>
        <pc:grpChg chg="add mod">
          <ac:chgData name="lakshman prabhu" userId="b1b99b0322cec7a2" providerId="LiveId" clId="{C31CA6A0-1C26-4DF9-B8AC-40E8CBE5B5B7}" dt="2026-02-17T10:12:30.567" v="354" actId="164"/>
          <ac:grpSpMkLst>
            <pc:docMk/>
            <pc:sldMk cId="0" sldId="270"/>
            <ac:grpSpMk id="23" creationId="{79B34B5B-9E38-3383-8BB1-5857CF3A1FC0}"/>
          </ac:grpSpMkLst>
        </pc:grpChg>
        <pc:grpChg chg="add mod">
          <ac:chgData name="lakshman prabhu" userId="b1b99b0322cec7a2" providerId="LiveId" clId="{C31CA6A0-1C26-4DF9-B8AC-40E8CBE5B5B7}" dt="2026-02-17T10:12:41.236" v="355" actId="164"/>
          <ac:grpSpMkLst>
            <pc:docMk/>
            <pc:sldMk cId="0" sldId="270"/>
            <ac:grpSpMk id="24" creationId="{AF725729-ADDB-9F06-8304-6A7BB7446301}"/>
          </ac:grpSpMkLst>
        </pc:grpChg>
      </pc:sldChg>
      <pc:sldChg chg="modSp mod">
        <pc:chgData name="lakshman prabhu" userId="b1b99b0322cec7a2" providerId="LiveId" clId="{C31CA6A0-1C26-4DF9-B8AC-40E8CBE5B5B7}" dt="2026-02-17T09:38:39.742" v="14" actId="33524"/>
        <pc:sldMkLst>
          <pc:docMk/>
          <pc:sldMk cId="0" sldId="274"/>
        </pc:sldMkLst>
        <pc:spChg chg="mod">
          <ac:chgData name="lakshman prabhu" userId="b1b99b0322cec7a2" providerId="LiveId" clId="{C31CA6A0-1C26-4DF9-B8AC-40E8CBE5B5B7}" dt="2026-02-17T09:38:39.742" v="14" actId="33524"/>
          <ac:spMkLst>
            <pc:docMk/>
            <pc:sldMk cId="0" sldId="274"/>
            <ac:spMk id="4" creationId="{00000000-0000-0000-0000-000000000000}"/>
          </ac:spMkLst>
        </pc:spChg>
      </pc:sldChg>
      <pc:sldChg chg="delSp modSp mod">
        <pc:chgData name="lakshman prabhu" userId="b1b99b0322cec7a2" providerId="LiveId" clId="{C31CA6A0-1C26-4DF9-B8AC-40E8CBE5B5B7}" dt="2026-02-17T10:11:30.757" v="351" actId="1076"/>
        <pc:sldMkLst>
          <pc:docMk/>
          <pc:sldMk cId="0" sldId="275"/>
        </pc:sldMkLst>
        <pc:spChg chg="del">
          <ac:chgData name="lakshman prabhu" userId="b1b99b0322cec7a2" providerId="LiveId" clId="{C31CA6A0-1C26-4DF9-B8AC-40E8CBE5B5B7}" dt="2026-02-17T10:09:04.056" v="83" actId="478"/>
          <ac:spMkLst>
            <pc:docMk/>
            <pc:sldMk cId="0" sldId="275"/>
            <ac:spMk id="4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1:23.497" v="350" actId="20577"/>
          <ac:spMkLst>
            <pc:docMk/>
            <pc:sldMk cId="0" sldId="275"/>
            <ac:spMk id="5" creationId="{00000000-0000-0000-0000-000000000000}"/>
          </ac:spMkLst>
        </pc:spChg>
        <pc:spChg chg="mod">
          <ac:chgData name="lakshman prabhu" userId="b1b99b0322cec7a2" providerId="LiveId" clId="{C31CA6A0-1C26-4DF9-B8AC-40E8CBE5B5B7}" dt="2026-02-17T10:11:30.757" v="351" actId="1076"/>
          <ac:spMkLst>
            <pc:docMk/>
            <pc:sldMk cId="0" sldId="275"/>
            <ac:spMk id="6" creationId="{00000000-0000-0000-0000-000000000000}"/>
          </ac:spMkLst>
        </pc:spChg>
      </pc:sldChg>
      <pc:sldChg chg="addSp delSp modSp mod modNotesTx">
        <pc:chgData name="lakshman prabhu" userId="b1b99b0322cec7a2" providerId="LiveId" clId="{C31CA6A0-1C26-4DF9-B8AC-40E8CBE5B5B7}" dt="2026-02-17T16:26:24.316" v="400" actId="20577"/>
        <pc:sldMkLst>
          <pc:docMk/>
          <pc:sldMk cId="0" sldId="276"/>
        </pc:sldMkLst>
        <pc:picChg chg="add del mod">
          <ac:chgData name="lakshman prabhu" userId="b1b99b0322cec7a2" providerId="LiveId" clId="{C31CA6A0-1C26-4DF9-B8AC-40E8CBE5B5B7}" dt="2026-02-17T09:03:46.325" v="1" actId="478"/>
          <ac:picMkLst>
            <pc:docMk/>
            <pc:sldMk cId="0" sldId="276"/>
            <ac:picMk id="32" creationId="{97CFFB8E-3182-5FBA-65DB-B84203EA855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058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Api across system for task manager </a:t>
            </a:r>
          </a:p>
          <a:p>
            <a:pPr marL="171450" indent="-171450">
              <a:buFontTx/>
              <a:buChar char="-"/>
            </a:pPr>
            <a:r>
              <a:rPr lang="en-US" dirty="0"/>
              <a:t>Start with email to access data 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Consider using packages and integrating with first python packages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Consider </a:t>
            </a:r>
            <a:r>
              <a:rPr lang="en-US" dirty="0" err="1"/>
              <a:t>.net</a:t>
            </a:r>
            <a:r>
              <a:rPr lang="en-US" dirty="0"/>
              <a:t> and try to check with </a:t>
            </a:r>
            <a:r>
              <a:rPr lang="en-US" dirty="0" err="1"/>
              <a:t>javascript</a:t>
            </a:r>
            <a:r>
              <a:rPr lang="en-US" dirty="0"/>
              <a:t> so it can run across systems</a:t>
            </a:r>
          </a:p>
          <a:p>
            <a:pPr marL="171450" indent="-171450">
              <a:buFontTx/>
              <a:buChar char="-"/>
            </a:pPr>
            <a:r>
              <a:rPr lang="en-US" dirty="0"/>
              <a:t>On mac consider progress and explore mac </a:t>
            </a:r>
            <a:r>
              <a:rPr lang="en-US" dirty="0" err="1"/>
              <a:t>miniOS</a:t>
            </a:r>
            <a:r>
              <a:rPr lang="en-US" dirty="0"/>
              <a:t> and how it tracks and observes runs </a:t>
            </a:r>
          </a:p>
          <a:p>
            <a:pPr marL="171450" indent="-171450">
              <a:buFontTx/>
              <a:buChar char="-"/>
            </a:pPr>
            <a:r>
              <a:rPr lang="en-US" dirty="0"/>
              <a:t>Health on chip (mac chips) trackers</a:t>
            </a:r>
          </a:p>
          <a:p>
            <a:pPr marL="171450" indent="-171450">
              <a:buFontTx/>
              <a:buChar char="-"/>
            </a:pPr>
            <a:r>
              <a:rPr lang="en-US" b="1" u="sng" dirty="0"/>
              <a:t>Agents to interact with system level to make decision based on resource usage and limits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Openclaw</a:t>
            </a:r>
            <a:r>
              <a:rPr lang="en-US" dirty="0"/>
              <a:t> (check internal status of running processes)</a:t>
            </a:r>
          </a:p>
          <a:p>
            <a:pPr marL="171450" indent="-171450">
              <a:buFontTx/>
              <a:buChar char="-"/>
            </a:pPr>
            <a:r>
              <a:rPr lang="en-US" dirty="0"/>
              <a:t>MCP (model context protocol</a:t>
            </a:r>
            <a:r>
              <a:rPr lang="en-US" b="1" dirty="0"/>
              <a:t>(do more research)</a:t>
            </a:r>
            <a:r>
              <a:rPr lang="en-US" b="0" dirty="0"/>
              <a:t>)</a:t>
            </a:r>
          </a:p>
          <a:p>
            <a:endParaRPr lang="en-US" dirty="0"/>
          </a:p>
          <a:p>
            <a:r>
              <a:rPr lang="en-US" b="1"/>
              <a:t>MCP Integration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1"/>
          <p:cNvSpPr/>
          <p:nvPr/>
        </p:nvSpPr>
        <p:spPr>
          <a:xfrm>
            <a:off x="914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Vigilo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developer-first monitoring agent.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337560"/>
            <a:ext cx="2743200" cy="18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Latin: "I watch."  —  Watches your code so you don't have to.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4343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Lakshman Prabhu  —  Junior AI Understander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C14C14-0722-7FF6-3139-52D0FA074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670" y="705847"/>
            <a:ext cx="2486025" cy="16573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hit run.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CC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walk away.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 what?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who has trained a model, compiled a large project, or run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script knows this feeling. The anxiety of not knowing.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○  ○  ○  ○  ○  ○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ACTUALLY happens.</a:t>
            </a:r>
            <a:endParaRPr lang="en-US" sz="28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AADCB32-CFDA-4504-8C6A-E45657DA6EEC}"/>
              </a:ext>
            </a:extLst>
          </p:cNvPr>
          <p:cNvGrpSpPr/>
          <p:nvPr/>
        </p:nvGrpSpPr>
        <p:grpSpPr>
          <a:xfrm>
            <a:off x="1097280" y="1005840"/>
            <a:ext cx="7315200" cy="502920"/>
            <a:chOff x="1097280" y="1005840"/>
            <a:chExt cx="7315200" cy="502920"/>
          </a:xfrm>
        </p:grpSpPr>
        <p:sp>
          <p:nvSpPr>
            <p:cNvPr id="4" name="Shape 2"/>
            <p:cNvSpPr/>
            <p:nvPr/>
          </p:nvSpPr>
          <p:spPr>
            <a:xfrm>
              <a:off x="1097280" y="1051560"/>
              <a:ext cx="73152" cy="457200"/>
            </a:xfrm>
            <a:prstGeom prst="rect">
              <a:avLst/>
            </a:prstGeom>
            <a:solidFill>
              <a:srgbClr val="22C55E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5" name="Text 3"/>
            <p:cNvSpPr/>
            <p:nvPr/>
          </p:nvSpPr>
          <p:spPr>
            <a:xfrm>
              <a:off x="1371600" y="100584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2C55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10:00 PM</a:t>
              </a:r>
              <a:endParaRPr lang="en-US" sz="1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651760" y="1005840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C8CCD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You start a training run. Everything looks fine.</a:t>
              </a:r>
              <a:endParaRPr lang="en-US" sz="1250" dirty="0"/>
            </a:p>
          </p:txBody>
        </p:sp>
      </p:grpSp>
      <p:sp>
        <p:nvSpPr>
          <p:cNvPr id="7" name="Shape 5"/>
          <p:cNvSpPr/>
          <p:nvPr/>
        </p:nvSpPr>
        <p:spPr>
          <a:xfrm>
            <a:off x="1097280" y="1828800"/>
            <a:ext cx="73152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10:45 PM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close your laptop. Head to bed.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97280" y="260604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2:14 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560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spikes to 97%. Silent. No one watching.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3383280"/>
            <a:ext cx="73152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2:16 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33375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OOM. Kernel kill. 4 hours of training — gone.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97280" y="4160520"/>
            <a:ext cx="73152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1371600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7:00 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41148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your laptop. Empty terminal. No logs. No checkpoint.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didn't even know it crashed."  —  Every developer, at least once.</a:t>
            </a:r>
            <a:endParaRPr lang="en-US" sz="11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AB4910-47BC-9790-E54B-AD9E12FB2998}"/>
              </a:ext>
            </a:extLst>
          </p:cNvPr>
          <p:cNvGrpSpPr/>
          <p:nvPr/>
        </p:nvGrpSpPr>
        <p:grpSpPr>
          <a:xfrm>
            <a:off x="0" y="4892040"/>
            <a:ext cx="9144000" cy="256032"/>
            <a:chOff x="0" y="4892040"/>
            <a:chExt cx="9144000" cy="256032"/>
          </a:xfrm>
        </p:grpSpPr>
        <p:sp>
          <p:nvSpPr>
            <p:cNvPr id="20" name="Shape 18"/>
            <p:cNvSpPr/>
            <p:nvPr/>
          </p:nvSpPr>
          <p:spPr>
            <a:xfrm>
              <a:off x="0" y="4892040"/>
              <a:ext cx="9144000" cy="256032"/>
            </a:xfrm>
            <a:prstGeom prst="rect">
              <a:avLst/>
            </a:prstGeom>
            <a:solidFill>
              <a:srgbClr val="050505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 19"/>
            <p:cNvSpPr/>
            <p:nvPr/>
          </p:nvSpPr>
          <p:spPr>
            <a:xfrm>
              <a:off x="457200" y="4892040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kern="0" spc="2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PROBLEM</a:t>
              </a:r>
              <a:endParaRPr lang="en-US" sz="7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743200" y="4892040"/>
              <a:ext cx="3657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kern="0" spc="150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  ○  ○  ○  ○  ○  ○</a:t>
              </a:r>
              <a:endParaRPr lang="en-US" sz="7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858000" y="489204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/ 22</a:t>
              </a:r>
              <a:endParaRPr lang="en-US" sz="7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push dir="u"/>
      </p:transition>
    </mc:Choice>
    <mc:Fallback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isn't a minor inconvenience.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219456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3258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4–8 hrs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94360" y="2514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lost training per incident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097280"/>
            <a:ext cx="2697480" cy="219456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258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$2.50/hr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3474720" y="2514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Colab Pro GPU cost wasted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097280"/>
            <a:ext cx="2697480" cy="219456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3258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6355080" y="2514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Kaggle users have lost progress to OOM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40080" y="3566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isn't just compute. It's momentum. It's the context you lose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have to restart a session from scratch.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3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○  ○  ○  ○  ○  ○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ll/>
      </p:transition>
    </mc:Choice>
    <mc:Fallback>
      <p:transition spd="slow">
        <p:pull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happens every day.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237744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188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828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47.2M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94360" y="2377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005840"/>
            <a:ext cx="2697480" cy="237744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1887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1828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23.3M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3474720" y="2377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on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alone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005840"/>
            <a:ext cx="2697480" cy="237744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1887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1828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36.5M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developers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70% since 2022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40080" y="3566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are running resource-intensive workloads on hardware that can barely keep up.</a:t>
            </a:r>
            <a:endParaRPr lang="en-US" sz="12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 Self-taught practitioners. Early-career developers. People just like us.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SlashData Developer Nation Survey, Q1 2025  |  Kaggle / Wikipedia, Apr 2025  |  SlashData, Q1 2025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4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●  ○  ○  ○  ○  ○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is this for.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people with real pain — not theoretical customers.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310896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97480" cy="3657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087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103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/ Data Science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Practitioners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743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5–8M globally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3063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models on laptops and free-tier notebooks. Kaggle competitors, Colab users, self-taught practitioners.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1280160"/>
            <a:ext cx="2697480" cy="310896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3337560" y="1280160"/>
            <a:ext cx="26974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087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103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 Students &amp;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Bootcamp Learners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0440" y="2743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5–6M globally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566160" y="3063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heavy coursework on the cheapest hardware they can afford. Capstone projects, assignments, portfolio builds.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7920" y="1280160"/>
            <a:ext cx="2697480" cy="310896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4"/>
          <p:cNvSpPr/>
          <p:nvPr/>
        </p:nvSpPr>
        <p:spPr>
          <a:xfrm>
            <a:off x="6217920" y="1280160"/>
            <a:ext cx="26974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5087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103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 Developers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Long Tasks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2743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2–3M globally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446520" y="3063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devs compiling, backend engineers running test suites, anyone with scripts over 10 minutes.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19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●  ○  ○  ○  ○  ○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7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559D2BDB-2068-B871-D14E-076EA0177836}"/>
              </a:ext>
            </a:extLst>
          </p:cNvPr>
          <p:cNvSpPr/>
          <p:nvPr/>
        </p:nvSpPr>
        <p:spPr>
          <a:xfrm>
            <a:off x="502920" y="453331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SlashData Developer Nation Survey, Q1 2025  |  Kaggle / Wikipedia, Apr 2025  |  SlashData, Q1 2025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already exists.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tool was built for infrastructure teams, not individual developers.</a:t>
            </a:r>
            <a:endParaRPr lang="en-US" sz="12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5BC1107-D69A-CF18-8412-CFC03B3F0838}"/>
              </a:ext>
            </a:extLst>
          </p:cNvPr>
          <p:cNvGrpSpPr/>
          <p:nvPr/>
        </p:nvGrpSpPr>
        <p:grpSpPr>
          <a:xfrm>
            <a:off x="457200" y="1120140"/>
            <a:ext cx="8229600" cy="731520"/>
            <a:chOff x="457200" y="1280160"/>
            <a:chExt cx="8229600" cy="731520"/>
          </a:xfrm>
        </p:grpSpPr>
        <p:sp>
          <p:nvSpPr>
            <p:cNvPr id="5" name="Shape 3"/>
            <p:cNvSpPr/>
            <p:nvPr/>
          </p:nvSpPr>
          <p:spPr>
            <a:xfrm>
              <a:off x="457200" y="1280160"/>
              <a:ext cx="8229600" cy="731520"/>
            </a:xfrm>
            <a:prstGeom prst="rect">
              <a:avLst/>
            </a:prstGeom>
            <a:solidFill>
              <a:srgbClr val="0D0D0D"/>
            </a:solidFill>
            <a:ln w="63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1417320"/>
              <a:ext cx="411480" cy="411480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188720" y="1280160"/>
              <a:ext cx="21031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Datadog / Grafana</a:t>
              </a:r>
              <a:endParaRPr lang="en-US" sz="13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3383280" y="1280160"/>
              <a:ext cx="512064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Enterprise. $15–$23/host/month. Requires infrastructure.</a:t>
              </a:r>
              <a:endParaRPr lang="en-US" sz="115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FD0E701-7192-BABC-AEAA-1FC36F5A3F20}"/>
              </a:ext>
            </a:extLst>
          </p:cNvPr>
          <p:cNvGrpSpPr/>
          <p:nvPr/>
        </p:nvGrpSpPr>
        <p:grpSpPr>
          <a:xfrm>
            <a:off x="457200" y="1920240"/>
            <a:ext cx="8229600" cy="731520"/>
            <a:chOff x="457200" y="2148840"/>
            <a:chExt cx="8229600" cy="731520"/>
          </a:xfrm>
        </p:grpSpPr>
        <p:sp>
          <p:nvSpPr>
            <p:cNvPr id="9" name="Shape 6"/>
            <p:cNvSpPr/>
            <p:nvPr/>
          </p:nvSpPr>
          <p:spPr>
            <a:xfrm>
              <a:off x="457200" y="2148840"/>
              <a:ext cx="8229600" cy="731520"/>
            </a:xfrm>
            <a:prstGeom prst="rect">
              <a:avLst/>
            </a:prstGeom>
            <a:solidFill>
              <a:srgbClr val="0D0D0D"/>
            </a:solidFill>
            <a:ln w="63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80" y="2286000"/>
              <a:ext cx="411480" cy="411480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1188720" y="2148840"/>
              <a:ext cx="21031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htop / Activity Monitor</a:t>
              </a:r>
              <a:endParaRPr lang="en-US" sz="13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3383280" y="2148840"/>
              <a:ext cx="512064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Requires you to be at your machine. No predictions. No mobile.</a:t>
              </a:r>
              <a:endParaRPr lang="en-US" sz="115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C89DB3A-A917-1F30-CE78-BAB54556C3F5}"/>
              </a:ext>
            </a:extLst>
          </p:cNvPr>
          <p:cNvGrpSpPr/>
          <p:nvPr/>
        </p:nvGrpSpPr>
        <p:grpSpPr>
          <a:xfrm>
            <a:off x="457200" y="2720340"/>
            <a:ext cx="8229600" cy="731520"/>
            <a:chOff x="457200" y="3017520"/>
            <a:chExt cx="8229600" cy="731520"/>
          </a:xfrm>
        </p:grpSpPr>
        <p:sp>
          <p:nvSpPr>
            <p:cNvPr id="13" name="Shape 9"/>
            <p:cNvSpPr/>
            <p:nvPr/>
          </p:nvSpPr>
          <p:spPr>
            <a:xfrm>
              <a:off x="457200" y="3017520"/>
              <a:ext cx="8229600" cy="731520"/>
            </a:xfrm>
            <a:prstGeom prst="rect">
              <a:avLst/>
            </a:prstGeom>
            <a:solidFill>
              <a:srgbClr val="0D0D0D"/>
            </a:solidFill>
            <a:ln w="63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pic>
          <p:nvPicPr>
            <p:cNvPr id="1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080" y="3154680"/>
              <a:ext cx="411480" cy="411480"/>
            </a:xfrm>
            <a:prstGeom prst="rect">
              <a:avLst/>
            </a:prstGeom>
          </p:spPr>
        </p:pic>
        <p:sp>
          <p:nvSpPr>
            <p:cNvPr id="15" name="Text 10"/>
            <p:cNvSpPr/>
            <p:nvPr/>
          </p:nvSpPr>
          <p:spPr>
            <a:xfrm>
              <a:off x="1188720" y="3017520"/>
              <a:ext cx="21031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W&amp;B / MLflow</a:t>
              </a:r>
              <a:endParaRPr lang="en-US" sz="1300" dirty="0"/>
            </a:p>
          </p:txBody>
        </p:sp>
        <p:sp>
          <p:nvSpPr>
            <p:cNvPr id="16" name="Text 11"/>
            <p:cNvSpPr/>
            <p:nvPr/>
          </p:nvSpPr>
          <p:spPr>
            <a:xfrm>
              <a:off x="3383280" y="3017520"/>
              <a:ext cx="512064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Tracks experiments, not system health. No OOM prediction. No push alerts.</a:t>
              </a:r>
              <a:endParaRPr lang="en-US" sz="115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BF84B3-8E00-219E-34AD-80F2419D89F2}"/>
              </a:ext>
            </a:extLst>
          </p:cNvPr>
          <p:cNvGrpSpPr/>
          <p:nvPr/>
        </p:nvGrpSpPr>
        <p:grpSpPr>
          <a:xfrm>
            <a:off x="457200" y="3520440"/>
            <a:ext cx="8229600" cy="731520"/>
            <a:chOff x="457200" y="3886200"/>
            <a:chExt cx="8229600" cy="731520"/>
          </a:xfrm>
        </p:grpSpPr>
        <p:sp>
          <p:nvSpPr>
            <p:cNvPr id="17" name="Shape 12"/>
            <p:cNvSpPr/>
            <p:nvPr/>
          </p:nvSpPr>
          <p:spPr>
            <a:xfrm>
              <a:off x="457200" y="3886200"/>
              <a:ext cx="8229600" cy="731520"/>
            </a:xfrm>
            <a:prstGeom prst="rect">
              <a:avLst/>
            </a:prstGeom>
            <a:solidFill>
              <a:srgbClr val="0D0D0D"/>
            </a:solidFill>
            <a:ln w="63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0080" y="4023360"/>
              <a:ext cx="411480" cy="411480"/>
            </a:xfrm>
            <a:prstGeom prst="rect">
              <a:avLst/>
            </a:prstGeom>
          </p:spPr>
        </p:pic>
        <p:sp>
          <p:nvSpPr>
            <p:cNvPr id="19" name="Text 13"/>
            <p:cNvSpPr/>
            <p:nvPr/>
          </p:nvSpPr>
          <p:spPr>
            <a:xfrm>
              <a:off x="1188720" y="3886200"/>
              <a:ext cx="21031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OpenClaw process-watch</a:t>
              </a:r>
              <a:endParaRPr lang="en-US" sz="1300" dirty="0"/>
            </a:p>
          </p:txBody>
        </p:sp>
        <p:sp>
          <p:nvSpPr>
            <p:cNvPr id="20" name="Text 14"/>
            <p:cNvSpPr/>
            <p:nvPr/>
          </p:nvSpPr>
          <p:spPr>
            <a:xfrm>
              <a:off x="3383280" y="3886200"/>
              <a:ext cx="512064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General-purpose. No ML-specific intelligence. No phone integration.</a:t>
              </a:r>
              <a:endParaRPr lang="en-US" sz="1150" dirty="0"/>
            </a:p>
          </p:txBody>
        </p:sp>
      </p:grpSp>
      <p:sp>
        <p:nvSpPr>
          <p:cNvPr id="21" name="Text 15"/>
          <p:cNvSpPr/>
          <p:nvPr/>
        </p:nvSpPr>
        <p:spPr>
          <a:xfrm>
            <a:off x="640080" y="43205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2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</a:t>
            </a: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building a purpose-built monitoring agent for individual developers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predicts failures and reaches you on your phone.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17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●  ○  ○  ○  ○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Vigilo is not </a:t>
            </a:r>
            <a:r>
              <a:rPr lang="en-US" sz="3400" b="1" i="1" u="sng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</a:t>
            </a: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 phone app.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developer-first monitoring agent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lives on your machine.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56816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is one way to talk to it. Your terminal is another.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asking, "how's my training?" through MCP is another.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the product. Everything else is a window into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2194560" cy="137160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219456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383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vigilo status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3200400"/>
            <a:ext cx="2194560" cy="137160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3474720" y="3200400"/>
            <a:ext cx="219456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3832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6616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 integration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3200400"/>
            <a:ext cx="2194560" cy="137160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3"/>
          <p:cNvSpPr/>
          <p:nvPr/>
        </p:nvSpPr>
        <p:spPr>
          <a:xfrm>
            <a:off x="6035040" y="3200400"/>
            <a:ext cx="21945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3832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2648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action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7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●  ○  ○  ○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levels of intelligence.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watching to acting — each level builds on the last.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2344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12344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66160" y="12344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"CPU at 85%, RAM at 72%"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457200" y="210312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402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1031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828800" y="21031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21031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"Warning: RAM at 92%. OOM in ~12 min."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" y="2971800"/>
            <a:ext cx="8229600" cy="7315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4"/>
          <p:cNvSpPr/>
          <p:nvPr/>
        </p:nvSpPr>
        <p:spPr>
          <a:xfrm>
            <a:off x="457200" y="297180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089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29718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828800" y="2971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566160" y="29718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"Suggest: checkpoint now, reduce batch size"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19"/>
          <p:cNvSpPr/>
          <p:nvPr/>
        </p:nvSpPr>
        <p:spPr>
          <a:xfrm>
            <a:off x="457200" y="3840480"/>
            <a:ext cx="54864" cy="7315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7764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4440" y="3840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828800" y="3840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3566160" y="3840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"Auto-checkpointed at epoch 7. Batch size reduced."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2651760" y="72448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monitoring tools stop at L0. Vigilo is designed to reach L3.</a:t>
            </a:r>
            <a:endParaRPr lang="en-US" sz="1200" b="1" u="sng" dirty="0"/>
          </a:p>
        </p:txBody>
      </p:sp>
      <p:sp>
        <p:nvSpPr>
          <p:cNvPr id="30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5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●  ○  ○  ○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— the core product.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vigilo. That's it. You're monitoring.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Metrics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691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GPU, disk — via psutil and pynvml. Apple Silicon via macmon.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023360" cy="137160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OOM Alerts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32120" y="1691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memory growth rate. Warns before crash: "OOM in ~18 min."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2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Detection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34440" y="32461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tqdm, parses stdout. Estimates completion time.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743200"/>
            <a:ext cx="4023360" cy="137160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6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9260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2880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Actions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532120" y="32461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Checkpoint, pause, kill, resize batch — from your phone or AI IDE.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0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●  ○  ○  ○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— the distribution strategy.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is a universal standard (by Anthropic) for connecting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to external data. Vigilo becomes an MCP server.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28600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Tool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Cursor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Windsurf, OpenClaw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0" y="1554480"/>
            <a:ext cx="228600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65760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Vigilo MCP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get_metrics, predict_oom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checkpoint, adjust_batch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675120" y="1554480"/>
            <a:ext cx="201168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67512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Machine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running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7863840" cy="16459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2296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Claude Code + Vigilo MCP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54480" y="31089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"How's my training run going?"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3429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54480" y="34290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tool_call("vigilo.get_training_status")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3749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Vigilo: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54480" y="37490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cpu: 87%, ram: 92%, gpu: 78%, eta: "~2h 14m", risk: "OOM in ~18 min" 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4069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CC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54480" y="40690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run is 78% through but RAM is critical. I'd recommend checkpointing now."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○  ●  ○  ○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2743200"/>
          </a:xfrm>
          <a:prstGeom prst="rect">
            <a:avLst/>
          </a:prstGeom>
          <a:solidFill>
            <a:srgbClr val="0D0D0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(Python)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474720" cy="2926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/ pynvml / macmon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474720" cy="2926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Prediction Engine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474720" cy="2926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Parser (tqdm)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3474720" cy="2926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40080" y="2514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Engine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3474720" cy="2926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API :8420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3474720" cy="2926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40080" y="32461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9768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60520" y="2468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1828800" cy="1920240"/>
          </a:xfrm>
          <a:prstGeom prst="rect">
            <a:avLst/>
          </a:prstGeom>
          <a:solidFill>
            <a:srgbClr val="0D0D0D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84632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1371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(email)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Dispatch</a:t>
            </a:r>
            <a:endParaRPr lang="en-US" sz="9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5682DB9-C89E-267A-8295-3C3A14EB97B1}"/>
              </a:ext>
            </a:extLst>
          </p:cNvPr>
          <p:cNvGrpSpPr/>
          <p:nvPr/>
        </p:nvGrpSpPr>
        <p:grpSpPr>
          <a:xfrm>
            <a:off x="7040880" y="1005840"/>
            <a:ext cx="1737360" cy="2743200"/>
            <a:chOff x="6949440" y="1005840"/>
            <a:chExt cx="1737360" cy="2743200"/>
          </a:xfrm>
        </p:grpSpPr>
        <p:sp>
          <p:nvSpPr>
            <p:cNvPr id="23" name="Shape 21"/>
            <p:cNvSpPr/>
            <p:nvPr/>
          </p:nvSpPr>
          <p:spPr>
            <a:xfrm>
              <a:off x="6949440" y="1005840"/>
              <a:ext cx="1737360" cy="2743200"/>
            </a:xfrm>
            <a:prstGeom prst="rect">
              <a:avLst/>
            </a:prstGeom>
            <a:solidFill>
              <a:srgbClr val="0D0D0D"/>
            </a:solidFill>
            <a:ln w="1905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Text 22"/>
            <p:cNvSpPr/>
            <p:nvPr/>
          </p:nvSpPr>
          <p:spPr>
            <a:xfrm>
              <a:off x="6949440" y="1051560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59E0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INTERFACES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040880" y="1371600"/>
              <a:ext cx="1554480" cy="2286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</a:t>
              </a:r>
              <a:endParaRPr lang="en-US" sz="85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vigilo status</a:t>
              </a:r>
              <a:endParaRPr lang="en-US" sz="850" dirty="0"/>
            </a:p>
            <a:p>
              <a:pPr marL="0" indent="0">
                <a:lnSpc>
                  <a:spcPct val="130000"/>
                </a:lnSpc>
                <a:buNone/>
              </a:pPr>
              <a:endParaRPr lang="en-US" sz="85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Phone App</a:t>
              </a:r>
              <a:endParaRPr lang="en-US" sz="85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push + actions</a:t>
              </a:r>
              <a:endParaRPr lang="en-US" sz="850" dirty="0"/>
            </a:p>
            <a:p>
              <a:pPr marL="0" indent="0">
                <a:lnSpc>
                  <a:spcPct val="130000"/>
                </a:lnSpc>
                <a:buNone/>
              </a:pPr>
              <a:endParaRPr lang="en-US" sz="85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MCP Clients</a:t>
              </a:r>
              <a:endParaRPr lang="en-US" sz="85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Claude, Cursor</a:t>
              </a:r>
              <a:endParaRPr lang="en-US" sz="850" dirty="0"/>
            </a:p>
            <a:p>
              <a:pPr marL="0" indent="0">
                <a:lnSpc>
                  <a:spcPct val="130000"/>
                </a:lnSpc>
                <a:buNone/>
              </a:pPr>
              <a:endParaRPr lang="en-US" sz="85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OpenClaw</a:t>
              </a:r>
              <a:endParaRPr lang="en-US" sz="85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 plugin</a:t>
              </a:r>
              <a:endParaRPr lang="en-US" sz="850" dirty="0"/>
            </a:p>
          </p:txBody>
        </p:sp>
      </p:grpSp>
      <p:sp>
        <p:nvSpPr>
          <p:cNvPr id="26" name="Text 24"/>
          <p:cNvSpPr/>
          <p:nvPr/>
        </p:nvSpPr>
        <p:spPr>
          <a:xfrm>
            <a:off x="66751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agent. Many windows. Build the engine once — let the ecosystem build on top.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○  ●  ○  ○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 from day one.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2801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macOS + Apple Silicon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for CPU/RAM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macmon for GPU, ANE, thermals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powermetrics for deep hardware health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IOKit for chip-level telemetry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GPU + Neural Engine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is a genuine differentiator.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2801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3776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+ Linux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22860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for CPU/RAM/disk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pynvml for NVIDIA GPU monitoring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torch.cuda for PyTorch CUDA memory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daemon mode for headless servers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02920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 monitoring covers 90%+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ML practitioners on these platforms.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1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○  ●  ○  ○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phone — thin and focused.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dashboard you sit in. A 5-second emergency interface.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237744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974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508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057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Alerts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4688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warning, crash notification, training complete — reaches you anywhere.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280160"/>
            <a:ext cx="2697480" cy="237744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3337560" y="1280160"/>
            <a:ext cx="269748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5087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057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Buttons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24688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"Checkpoint", "Pause", or "Kill" — command goes back to the agent.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280160"/>
            <a:ext cx="2697480" cy="237744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2"/>
          <p:cNvSpPr/>
          <p:nvPr/>
        </p:nvSpPr>
        <p:spPr>
          <a:xfrm>
            <a:off x="6217920" y="1280160"/>
            <a:ext cx="26974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5087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057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History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46520" y="24688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logged: duration, peak metrics, outcome. Compare runs over time.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AM OOM alert that saves 6 hours of lost training —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story users tell their friends.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7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○  ●  ○  ○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developers use it.</a:t>
            </a:r>
            <a:endParaRPr lang="en-US" sz="28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2C52466-A6AA-9148-4ECB-F3910749F9A1}"/>
              </a:ext>
            </a:extLst>
          </p:cNvPr>
          <p:cNvGrpSpPr/>
          <p:nvPr/>
        </p:nvGrpSpPr>
        <p:grpSpPr>
          <a:xfrm>
            <a:off x="457200" y="1005840"/>
            <a:ext cx="3840480" cy="1463040"/>
            <a:chOff x="457200" y="1005840"/>
            <a:chExt cx="3840480" cy="1463040"/>
          </a:xfrm>
        </p:grpSpPr>
        <p:sp>
          <p:nvSpPr>
            <p:cNvPr id="4" name="Shape 2"/>
            <p:cNvSpPr/>
            <p:nvPr/>
          </p:nvSpPr>
          <p:spPr>
            <a:xfrm>
              <a:off x="457200" y="1005840"/>
              <a:ext cx="3840480" cy="1463040"/>
            </a:xfrm>
            <a:prstGeom prst="rect">
              <a:avLst/>
            </a:prstGeom>
            <a:solidFill>
              <a:srgbClr val="0D0D0D"/>
            </a:solidFill>
            <a:ln w="63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" name="Text 3"/>
            <p:cNvSpPr/>
            <p:nvPr/>
          </p:nvSpPr>
          <p:spPr>
            <a:xfrm>
              <a:off x="548640" y="105156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2C55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Install</a:t>
              </a:r>
              <a:endParaRPr lang="en-US" sz="1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40080" y="1325880"/>
              <a:ext cx="347472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60000"/>
                </a:lnSpc>
                <a:buNone/>
              </a:pPr>
              <a:r>
                <a:rPr lang="en-US" sz="1100" dirty="0">
                  <a:solidFill>
                    <a:srgbClr val="C8CCD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pip install vigilo</a:t>
              </a:r>
              <a:endParaRPr lang="en-US" sz="1100" dirty="0"/>
            </a:p>
            <a:p>
              <a:pPr marL="0" indent="0">
                <a:lnSpc>
                  <a:spcPct val="160000"/>
                </a:lnSpc>
                <a:buNone/>
              </a:pPr>
              <a:r>
                <a:rPr lang="en-US" sz="1100" dirty="0">
                  <a:solidFill>
                    <a:srgbClr val="C8CCD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vigilo start</a:t>
              </a:r>
              <a:endParaRPr lang="en-US" sz="1100" dirty="0"/>
            </a:p>
            <a:p>
              <a:pPr marL="0" indent="0">
                <a:lnSpc>
                  <a:spcPct val="160000"/>
                </a:lnSpc>
                <a:buNone/>
              </a:pPr>
              <a:r>
                <a:rPr lang="en-US" sz="1100" dirty="0">
                  <a:solidFill>
                    <a:srgbClr val="C8CCD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$ vigilo status</a:t>
              </a:r>
              <a:endParaRPr lang="en-US" sz="11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F725729-ADDB-9F06-8304-6A7BB7446301}"/>
              </a:ext>
            </a:extLst>
          </p:cNvPr>
          <p:cNvGrpSpPr/>
          <p:nvPr/>
        </p:nvGrpSpPr>
        <p:grpSpPr>
          <a:xfrm>
            <a:off x="4846320" y="1005840"/>
            <a:ext cx="3840480" cy="1463040"/>
            <a:chOff x="4846320" y="1005840"/>
            <a:chExt cx="3840480" cy="1463040"/>
          </a:xfrm>
        </p:grpSpPr>
        <p:sp>
          <p:nvSpPr>
            <p:cNvPr id="7" name="Shape 5"/>
            <p:cNvSpPr/>
            <p:nvPr/>
          </p:nvSpPr>
          <p:spPr>
            <a:xfrm>
              <a:off x="4846320" y="1005840"/>
              <a:ext cx="3840480" cy="1463040"/>
            </a:xfrm>
            <a:prstGeom prst="rect">
              <a:avLst/>
            </a:prstGeom>
            <a:solidFill>
              <a:srgbClr val="0D0D0D"/>
            </a:solidFill>
            <a:ln w="63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8" name="Text 6"/>
            <p:cNvSpPr/>
            <p:nvPr/>
          </p:nvSpPr>
          <p:spPr>
            <a:xfrm>
              <a:off x="4937760" y="105156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82F6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Python API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0" y="1325880"/>
              <a:ext cx="347472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60000"/>
                </a:lnSpc>
                <a:buNone/>
              </a:pPr>
              <a:r>
                <a:rPr lang="en-US" sz="1100" dirty="0">
                  <a:solidFill>
                    <a:srgbClr val="C8CCD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import vigilo</a:t>
              </a:r>
              <a:endParaRPr lang="en-US" sz="1100" dirty="0"/>
            </a:p>
            <a:p>
              <a:pPr marL="0" indent="0">
                <a:lnSpc>
                  <a:spcPct val="160000"/>
                </a:lnSpc>
                <a:buNone/>
              </a:pPr>
              <a:endParaRPr lang="en-US" sz="1100" dirty="0"/>
            </a:p>
            <a:p>
              <a:pPr marL="0" indent="0">
                <a:lnSpc>
                  <a:spcPct val="160000"/>
                </a:lnSpc>
                <a:buNone/>
              </a:pPr>
              <a:r>
                <a:rPr lang="en-US" sz="1100" dirty="0">
                  <a:solidFill>
                    <a:srgbClr val="C8CCD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with vigilo.watch():</a:t>
              </a:r>
              <a:endParaRPr lang="en-US" sz="1100" dirty="0"/>
            </a:p>
            <a:p>
              <a:pPr marL="0" indent="0">
                <a:lnSpc>
                  <a:spcPct val="160000"/>
                </a:lnSpc>
                <a:buNone/>
              </a:pPr>
              <a:r>
                <a:rPr lang="en-US" sz="1100" dirty="0">
                  <a:solidFill>
                    <a:srgbClr val="C8CCD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train_model()</a:t>
              </a:r>
              <a:endParaRPr lang="en-US" sz="11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4DF5682-DE3A-1B4C-A6E1-C6D1AC072341}"/>
              </a:ext>
            </a:extLst>
          </p:cNvPr>
          <p:cNvGrpSpPr/>
          <p:nvPr/>
        </p:nvGrpSpPr>
        <p:grpSpPr>
          <a:xfrm>
            <a:off x="457200" y="2651760"/>
            <a:ext cx="3840480" cy="1463040"/>
            <a:chOff x="457200" y="2651760"/>
            <a:chExt cx="3840480" cy="1463040"/>
          </a:xfrm>
        </p:grpSpPr>
        <p:sp>
          <p:nvSpPr>
            <p:cNvPr id="10" name="Shape 8"/>
            <p:cNvSpPr/>
            <p:nvPr/>
          </p:nvSpPr>
          <p:spPr>
            <a:xfrm>
              <a:off x="457200" y="2651760"/>
              <a:ext cx="3840480" cy="1463040"/>
            </a:xfrm>
            <a:prstGeom prst="rect">
              <a:avLst/>
            </a:prstGeom>
            <a:solidFill>
              <a:srgbClr val="0D0D0D"/>
            </a:solidFill>
            <a:ln w="63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" name="Text 9"/>
            <p:cNvSpPr/>
            <p:nvPr/>
          </p:nvSpPr>
          <p:spPr>
            <a:xfrm>
              <a:off x="548640" y="269748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6B6D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MCP (Claude Code)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40080" y="2971800"/>
              <a:ext cx="347472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050" dirty="0">
                  <a:solidFill>
                    <a:srgbClr val="C8CCD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&gt; "How's my training going?"</a:t>
              </a:r>
              <a:endParaRPr lang="en-US" sz="1050" dirty="0"/>
            </a:p>
            <a:p>
              <a:pPr marL="0" indent="0">
                <a:lnSpc>
                  <a:spcPct val="150000"/>
                </a:lnSpc>
                <a:buNone/>
              </a:pPr>
              <a:endParaRPr lang="en-US" sz="105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050" dirty="0">
                  <a:solidFill>
                    <a:srgbClr val="C8CCD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Claude: "78% done. RAM critical.</a:t>
              </a:r>
              <a:endParaRPr lang="en-US" sz="105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050" dirty="0">
                  <a:solidFill>
                    <a:srgbClr val="C8CCD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 recommend checkpointing."</a:t>
              </a:r>
              <a:endParaRPr lang="en-US" sz="105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B34B5B-9E38-3383-8BB1-5857CF3A1FC0}"/>
              </a:ext>
            </a:extLst>
          </p:cNvPr>
          <p:cNvGrpSpPr/>
          <p:nvPr/>
        </p:nvGrpSpPr>
        <p:grpSpPr>
          <a:xfrm>
            <a:off x="4846320" y="2651760"/>
            <a:ext cx="3840480" cy="1463040"/>
            <a:chOff x="4846320" y="2651760"/>
            <a:chExt cx="3840480" cy="1463040"/>
          </a:xfrm>
        </p:grpSpPr>
        <p:sp>
          <p:nvSpPr>
            <p:cNvPr id="13" name="Shape 11"/>
            <p:cNvSpPr/>
            <p:nvPr/>
          </p:nvSpPr>
          <p:spPr>
            <a:xfrm>
              <a:off x="4846320" y="2651760"/>
              <a:ext cx="3840480" cy="1463040"/>
            </a:xfrm>
            <a:prstGeom prst="rect">
              <a:avLst/>
            </a:prstGeom>
            <a:solidFill>
              <a:srgbClr val="0D0D0D"/>
            </a:solidFill>
            <a:ln w="63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 12"/>
            <p:cNvSpPr/>
            <p:nvPr/>
          </p:nvSpPr>
          <p:spPr>
            <a:xfrm>
              <a:off x="4937760" y="269748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59E0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Phone Notification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029200" y="2971800"/>
              <a:ext cx="347472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050" dirty="0">
                  <a:solidFill>
                    <a:srgbClr val="C8CCD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⚠️  Vigilo Alert</a:t>
              </a:r>
              <a:endParaRPr lang="en-US" sz="105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050" dirty="0">
                  <a:solidFill>
                    <a:srgbClr val="C8CCD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RAM at 93%. OOM in ~14 min.</a:t>
              </a:r>
              <a:endParaRPr lang="en-US" sz="1050" dirty="0"/>
            </a:p>
            <a:p>
              <a:pPr marL="0" indent="0">
                <a:lnSpc>
                  <a:spcPct val="150000"/>
                </a:lnSpc>
                <a:buNone/>
              </a:pPr>
              <a:endParaRPr lang="en-US" sz="1050" dirty="0"/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050" dirty="0">
                  <a:solidFill>
                    <a:srgbClr val="C8CCD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[Checkpoint]  [Pause]  [Kill]</a:t>
              </a:r>
              <a:endParaRPr lang="en-US" sz="105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friction. Works with the tools developers already use.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○  ●  ○  ○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12-month roadmap.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Part-time, alongside full-time work. Under $30/month to run.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34747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0116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vigilo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+ pynvml metrics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prediction engine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relay + push alerts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start, status, stop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2011680" cy="34747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2560320" y="1188720"/>
            <a:ext cx="201168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256032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Protocol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21945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implementation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phone app (React Native)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macmon (Apple Silicon)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skill publication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recommendations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2011680" cy="34747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2011680" cy="3657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75488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7–9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1945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policy system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recommendations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buttons (phone)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Multi-machine view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49440" y="1188720"/>
            <a:ext cx="2011680" cy="34747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6949440" y="1188720"/>
            <a:ext cx="20116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694944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4944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10–12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86600" y="21945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site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+ Google Play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stable release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launch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feedback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○  ○  ●  ○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costs to build.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passion project, not a funding round.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(relay server)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188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$10–15/mo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or Railway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7315200" cy="41148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(push + auth)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handles thousands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194560"/>
            <a:ext cx="7315200" cy="41148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109728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 Account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$8.25/mo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$99/year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109728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Developer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2697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$2.08/mo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one-time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109728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(recommendations)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$5–15/mo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users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3703320"/>
            <a:ext cx="7315200" cy="41148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1097280" y="3703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3703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~$1/mo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3703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vigilo.dev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solidFill>
            <a:srgbClr val="0D0D0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1097280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12-month total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0" y="4251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$400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by design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○  ○  ●  ○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layers of defensibility.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9144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1430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is the moat.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1463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build a dashboard. Building an agent that reliably predicts OOM, intercepts tqdm, and hooks into PyTorch's training loop takes real engineering. That intelligence compounds.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23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240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is the distribution.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25880" y="25603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Code user, every Cursor user, every OpenClaw user is a potential Vigilo user. The ecosystem brings users to you — you don't need marketing.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1"/>
          <p:cNvSpPr/>
          <p:nvPr/>
        </p:nvSpPr>
        <p:spPr>
          <a:xfrm>
            <a:off x="457200" y="329184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20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3375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phone is the differentiator.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25880" y="3657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tool requires you to be at your computer. Vigilo reaches you in your pocket. That 3 AM OOM alert — that's the story users tell.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agent. Expose it through MCP. Alert through the phone. That's Vigilo.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6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○  ○  ●  ○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I'm not building. Yet.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 is how solo builders' ship.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28016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 dashboard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7315200" cy="41148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78308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2286000"/>
            <a:ext cx="7315200" cy="41148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28600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enterprise features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1097280" y="27889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78892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(users first, money later)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1097280" y="32918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2918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agent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3794760"/>
            <a:ext cx="7315200" cy="41148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1097280" y="37947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79476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/ Kaggle notebook integration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becomes a v2 feature — if real users ask for 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○  ○  ●  ○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exists.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2772"/>
            <a:ext cx="8046720" cy="177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tool I wish existed when I started learning ML and training models.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lost work. I wasted GPU hours. I sat refreshing terminals at 2 AM.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this space would have experienced the same story and with the digital age that we are heading towards with AI-assisted complex code generation, this would become even 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applicable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2224" y="3236797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i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Vigilo exists to help people who are</a:t>
            </a:r>
            <a:endParaRPr lang="en-US" sz="1800" i="1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b="1" i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 was.</a:t>
            </a:r>
            <a:endParaRPr lang="en-US" sz="1800" i="1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○  ○  ●  ○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for discussion.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023360" cy="11887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relay server — or would MQTT / gRPC be more efficient at scale?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023360" cy="11887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93776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Integration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188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building a robust MCP server? Security model for system-level access?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4023360" cy="11887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4008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should autonomous action go? Where's the line between helpful and dangerous?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4023360" cy="11887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754880" y="21488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93776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 Implementation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macmon for Apple Silicon — production-viable, or should I abstract further?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4023360" cy="11887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Feedback Loop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design early beta feedback without overwhelming solo capacity?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4023360" cy="1188720"/>
          </a:xfrm>
          <a:prstGeom prst="rect">
            <a:avLst/>
          </a:prstGeom>
          <a:solidFill>
            <a:srgbClr val="0D0D0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93776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directories, Kaggle forums, OpenClaw skills — where to focus first?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43200" y="4892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○  ○  ○  ○  ○  ●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800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1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3200400" y="2926080"/>
            <a:ext cx="2743200" cy="182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C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Vigilo — I watch, so you don't have to.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Lakshman Prabhu  —  Junior AI Understander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C6349F-9B08-9A87-C303-869F8039D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670" y="705847"/>
            <a:ext cx="2486025" cy="16573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2174</Words>
  <Application>Microsoft Office PowerPoint</Application>
  <PresentationFormat>On-screen Show (16:9)</PresentationFormat>
  <Paragraphs>400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Vigilo — Developer Monitoring Platform</dc:title>
  <dc:subject>PptxGenJS Presentation</dc:subject>
  <dc:creator>Lakshman Prabhu</dc:creator>
  <cp:lastModifiedBy>LAKSHMAN PRABHU</cp:lastModifiedBy>
  <cp:revision>2</cp:revision>
  <dcterms:created xsi:type="dcterms:W3CDTF">2026-02-17T08:45:33Z</dcterms:created>
  <dcterms:modified xsi:type="dcterms:W3CDTF">2026-02-17T17:11:41Z</dcterms:modified>
</cp:coreProperties>
</file>